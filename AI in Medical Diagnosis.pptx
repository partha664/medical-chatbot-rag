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9"/>
  </p:notesMasterIdLst>
  <p:sldIdLst>
    <p:sldId id="256" r:id="rId2"/>
    <p:sldId id="261" r:id="rId3"/>
    <p:sldId id="263" r:id="rId4"/>
    <p:sldId id="264" r:id="rId5"/>
    <p:sldId id="257" r:id="rId6"/>
    <p:sldId id="258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D60093"/>
    <a:srgbClr val="FF9900"/>
    <a:srgbClr val="666633"/>
    <a:srgbClr val="663300"/>
    <a:srgbClr val="333399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702B2-2B8B-4B8C-988F-124D3839D7E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812CA-9D75-4620-B047-54D51F9DC93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812CA-9D75-4620-B047-54D51F9DC93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E1DB4136-76AB-4B03-8DA5-BA3E389A6DB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B62BB3C2-F5C9-4181-8491-A563C90DF5A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2376" y="1484784"/>
            <a:ext cx="7772400" cy="2164222"/>
          </a:xfrm>
        </p:spPr>
        <p:txBody>
          <a:bodyPr>
            <a:normAutofit/>
          </a:bodyPr>
          <a:lstStyle/>
          <a:p>
            <a:r>
              <a:rPr lang="en-US" sz="4200" b="0" dirty="0" smtClean="0"/>
              <a:t>AI in Medical Diagnosis: Enhancing Accuracy and Efficiency</a:t>
            </a:r>
            <a:endParaRPr lang="en-US" sz="4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100" dirty="0" smtClean="0"/>
              <a:t>Developing a Medical AI System from scratch</a:t>
            </a:r>
            <a:endParaRPr lang="en-US" sz="2100" dirty="0"/>
          </a:p>
        </p:txBody>
      </p:sp>
      <p:sp>
        <p:nvSpPr>
          <p:cNvPr id="4" name="TextBox 3"/>
          <p:cNvSpPr txBox="1"/>
          <p:nvPr/>
        </p:nvSpPr>
        <p:spPr>
          <a:xfrm>
            <a:off x="4860032" y="4941168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    Name : </a:t>
            </a:r>
            <a:r>
              <a:rPr lang="en-US" dirty="0" err="1" smtClean="0">
                <a:solidFill>
                  <a:srgbClr val="7030A0"/>
                </a:solidFill>
              </a:rPr>
              <a:t>Parthasarathi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err="1" smtClean="0">
                <a:solidFill>
                  <a:srgbClr val="7030A0"/>
                </a:solidFill>
              </a:rPr>
              <a:t>Sahani</a:t>
            </a:r>
            <a:endParaRPr lang="en-US" dirty="0" smtClean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   Batch : GGI54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dirty="0" smtClean="0"/>
              <a:t>Challenges in Implementing AI in Medical Diagnosis</a:t>
            </a:r>
            <a:endParaRPr lang="en-US" sz="28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183880" cy="4770856"/>
          </a:xfrm>
        </p:spPr>
        <p:txBody>
          <a:bodyPr>
            <a:normAutofit/>
          </a:bodyPr>
          <a:lstStyle/>
          <a:p>
            <a:r>
              <a:rPr lang="en-US" sz="1400" dirty="0" smtClean="0">
                <a:solidFill>
                  <a:srgbClr val="CC3300"/>
                </a:solidFill>
                <a:cs typeface="Times New Roman" pitchFamily="18" charset="0"/>
              </a:rPr>
              <a:t>Phase 1</a:t>
            </a:r>
            <a:r>
              <a:rPr lang="en-US" sz="1100" dirty="0" smtClean="0">
                <a:solidFill>
                  <a:srgbClr val="CC3300"/>
                </a:solidFill>
                <a:cs typeface="Times New Roman" pitchFamily="18" charset="0"/>
              </a:rPr>
              <a:t> </a:t>
            </a:r>
            <a:r>
              <a:rPr lang="en-US" sz="1200" dirty="0" smtClean="0">
                <a:cs typeface="Times New Roman" pitchFamily="18" charset="0"/>
              </a:rPr>
              <a:t>::Llama-2 </a:t>
            </a:r>
            <a:r>
              <a:rPr lang="en-US" sz="1200" dirty="0" smtClean="0">
                <a:cs typeface="Times New Roman" pitchFamily="18" charset="0"/>
              </a:rPr>
              <a:t>Model + 4-bit Quantization + </a:t>
            </a:r>
            <a:r>
              <a:rPr lang="en-US" sz="1200" dirty="0" err="1" smtClean="0">
                <a:cs typeface="Times New Roman" pitchFamily="18" charset="0"/>
              </a:rPr>
              <a:t>LoRA</a:t>
            </a:r>
            <a:r>
              <a:rPr lang="en-US" sz="1200" dirty="0" smtClean="0">
                <a:cs typeface="Times New Roman" pitchFamily="18" charset="0"/>
              </a:rPr>
              <a:t> Fine-tuning + Full Trainer</a:t>
            </a:r>
          </a:p>
          <a:p>
            <a:r>
              <a:rPr lang="en-US" sz="1200" dirty="0" smtClean="0">
                <a:cs typeface="Times New Roman" pitchFamily="18" charset="0"/>
              </a:rPr>
              <a:t>CHALLENGES FACED: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1. Model Access Blocked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IMPACT: Complete system failure for 90% users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PROBLEM</a:t>
            </a:r>
            <a:r>
              <a:rPr lang="en-US" sz="1200" dirty="0" smtClean="0">
                <a:cs typeface="Times New Roman" pitchFamily="18" charset="0"/>
              </a:rPr>
              <a:t>: "meta-llama/Llama-2-7b-chat-hf" - Requires special access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ATTEMPTED</a:t>
            </a:r>
            <a:r>
              <a:rPr lang="en-US" sz="1200" dirty="0" smtClean="0">
                <a:cs typeface="Times New Roman" pitchFamily="18" charset="0"/>
              </a:rPr>
              <a:t>: Nothing - Dead end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2. Quantization Dependency Hell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PROBLEM</a:t>
            </a:r>
            <a:r>
              <a:rPr lang="en-US" sz="1200" dirty="0" smtClean="0">
                <a:cs typeface="Times New Roman" pitchFamily="18" charset="0"/>
              </a:rPr>
              <a:t>: "</a:t>
            </a:r>
            <a:r>
              <a:rPr lang="en-US" sz="1200" dirty="0" err="1" smtClean="0">
                <a:cs typeface="Times New Roman" pitchFamily="18" charset="0"/>
              </a:rPr>
              <a:t>bitsandbytes</a:t>
            </a:r>
            <a:r>
              <a:rPr lang="en-US" sz="1200" dirty="0" smtClean="0">
                <a:cs typeface="Times New Roman" pitchFamily="18" charset="0"/>
              </a:rPr>
              <a:t> 4-bit requires latest version"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IMPACT</a:t>
            </a:r>
            <a:r>
              <a:rPr lang="en-US" sz="1200" dirty="0" smtClean="0">
                <a:cs typeface="Times New Roman" pitchFamily="18" charset="0"/>
              </a:rPr>
              <a:t>: Installation failures, version conflicts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ATTEMPTED</a:t>
            </a:r>
            <a:r>
              <a:rPr lang="en-US" sz="1200" dirty="0" smtClean="0">
                <a:cs typeface="Times New Roman" pitchFamily="18" charset="0"/>
              </a:rPr>
              <a:t>: pip install -U </a:t>
            </a:r>
            <a:r>
              <a:rPr lang="en-US" sz="1200" dirty="0" err="1" smtClean="0">
                <a:cs typeface="Times New Roman" pitchFamily="18" charset="0"/>
              </a:rPr>
              <a:t>bitsandbytes</a:t>
            </a:r>
            <a:r>
              <a:rPr lang="en-US" sz="1200" dirty="0" smtClean="0">
                <a:cs typeface="Times New Roman" pitchFamily="18" charset="0"/>
              </a:rPr>
              <a:t> (failed)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3. Memory Explosion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PROBLEM</a:t>
            </a:r>
            <a:r>
              <a:rPr lang="en-US" sz="1200" dirty="0" smtClean="0">
                <a:cs typeface="Times New Roman" pitchFamily="18" charset="0"/>
              </a:rPr>
              <a:t>: CUDA Out of Memory during training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IMPACT</a:t>
            </a:r>
            <a:r>
              <a:rPr lang="en-US" sz="1200" dirty="0" smtClean="0">
                <a:cs typeface="Times New Roman" pitchFamily="18" charset="0"/>
              </a:rPr>
              <a:t>: System crashes on medical dataset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ATTEMPTED</a:t>
            </a:r>
            <a:r>
              <a:rPr lang="en-US" sz="1200" dirty="0" smtClean="0">
                <a:cs typeface="Times New Roman" pitchFamily="18" charset="0"/>
              </a:rPr>
              <a:t>: Reduced batch size (minimal improvement)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FAILURE REASON: Too ambitious, too many </a:t>
            </a:r>
            <a:r>
              <a:rPr lang="en-US" sz="1200" dirty="0" smtClean="0">
                <a:cs typeface="Times New Roman" pitchFamily="18" charset="0"/>
              </a:rPr>
              <a:t>dependencies</a:t>
            </a:r>
          </a:p>
          <a:p>
            <a:r>
              <a:rPr lang="en-US" sz="1400" dirty="0" smtClean="0">
                <a:solidFill>
                  <a:srgbClr val="CC3300"/>
                </a:solidFill>
                <a:cs typeface="Times New Roman" pitchFamily="18" charset="0"/>
              </a:rPr>
              <a:t>Phase 2 </a:t>
            </a:r>
            <a:r>
              <a:rPr lang="en-US" sz="1200" dirty="0" smtClean="0">
                <a:cs typeface="Times New Roman" pitchFamily="18" charset="0"/>
              </a:rPr>
              <a:t>:: Slight </a:t>
            </a:r>
            <a:r>
              <a:rPr lang="en-US" sz="1200" dirty="0" smtClean="0">
                <a:cs typeface="Times New Roman" pitchFamily="18" charset="0"/>
              </a:rPr>
              <a:t>Improvement Attempt</a:t>
            </a:r>
          </a:p>
          <a:p>
            <a:r>
              <a:rPr lang="en-US" sz="1200" dirty="0" smtClean="0">
                <a:cs typeface="Times New Roman" pitchFamily="18" charset="0"/>
              </a:rPr>
              <a:t>Changes Made: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    # </a:t>
            </a:r>
            <a:r>
              <a:rPr lang="en-US" sz="1200" dirty="0" smtClean="0">
                <a:cs typeface="Times New Roman" pitchFamily="18" charset="0"/>
              </a:rPr>
              <a:t>Changed to GPT-J model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    </a:t>
            </a:r>
            <a:r>
              <a:rPr lang="en-US" sz="1200" dirty="0" err="1" smtClean="0">
                <a:cs typeface="Times New Roman" pitchFamily="18" charset="0"/>
              </a:rPr>
              <a:t>base_model_name</a:t>
            </a:r>
            <a:r>
              <a:rPr lang="en-US" sz="1200" dirty="0" smtClean="0">
                <a:cs typeface="Times New Roman" pitchFamily="18" charset="0"/>
              </a:rPr>
              <a:t>="</a:t>
            </a:r>
            <a:r>
              <a:rPr lang="en-US" sz="1200" dirty="0" err="1" smtClean="0">
                <a:cs typeface="Times New Roman" pitchFamily="18" charset="0"/>
              </a:rPr>
              <a:t>EleutherAI</a:t>
            </a:r>
            <a:r>
              <a:rPr lang="en-US" sz="1200" dirty="0" smtClean="0">
                <a:cs typeface="Times New Roman" pitchFamily="18" charset="0"/>
              </a:rPr>
              <a:t>/gpt-j-6B"</a:t>
            </a:r>
          </a:p>
          <a:p>
            <a:pPr>
              <a:buNone/>
            </a:pPr>
            <a:r>
              <a:rPr lang="en-US" sz="1200" dirty="0" smtClean="0">
                <a:cs typeface="Times New Roman" pitchFamily="18" charset="0"/>
              </a:rPr>
              <a:t>        # </a:t>
            </a:r>
            <a:r>
              <a:rPr lang="en-US" sz="1200" dirty="0" smtClean="0">
                <a:cs typeface="Times New Roman" pitchFamily="18" charset="0"/>
              </a:rPr>
              <a:t>Added conditional </a:t>
            </a:r>
            <a:r>
              <a:rPr lang="en-US" sz="1200" dirty="0" smtClean="0">
                <a:cs typeface="Times New Roman" pitchFamily="18" charset="0"/>
              </a:rPr>
              <a:t>quantization                                                                        </a:t>
            </a:r>
            <a:r>
              <a:rPr lang="en-US" sz="1200" i="1" dirty="0" smtClean="0">
                <a:solidFill>
                  <a:srgbClr val="CC3300"/>
                </a:solidFill>
                <a:cs typeface="Times New Roman" pitchFamily="18" charset="0"/>
              </a:rPr>
              <a:t>(cont..)</a:t>
            </a:r>
            <a:endParaRPr lang="en-US" sz="1200" i="1" dirty="0">
              <a:solidFill>
                <a:srgbClr val="CC33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dirty="0" smtClean="0"/>
              <a:t>Challenges in Implementing AI in Medical Diagnosis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476672"/>
            <a:ext cx="8183880" cy="4680520"/>
          </a:xfrm>
        </p:spPr>
        <p:txBody>
          <a:bodyPr>
            <a:normAutofit fontScale="92500" lnSpcReduction="20000"/>
          </a:bodyPr>
          <a:lstStyle/>
          <a:p>
            <a:r>
              <a:rPr lang="en-US" sz="1300" dirty="0" smtClean="0"/>
              <a:t>NEW CHALLENGES:</a:t>
            </a:r>
          </a:p>
          <a:p>
            <a:pPr>
              <a:buNone/>
            </a:pPr>
            <a:r>
              <a:rPr lang="en-US" sz="1300" dirty="0" smtClean="0"/>
              <a:t>1. GPT-J Still Too Large</a:t>
            </a:r>
          </a:p>
          <a:p>
            <a:pPr>
              <a:buNone/>
            </a:pPr>
            <a:r>
              <a:rPr lang="en-US" sz="1300" dirty="0" smtClean="0"/>
              <a:t>    </a:t>
            </a:r>
            <a:r>
              <a:rPr lang="en-US" sz="1300" dirty="0" smtClean="0"/>
              <a:t>PROBLEM: 6B parameters too big for consumer GPUs</a:t>
            </a:r>
          </a:p>
          <a:p>
            <a:pPr>
              <a:buNone/>
            </a:pPr>
            <a:r>
              <a:rPr lang="en-US" sz="1300" dirty="0" smtClean="0"/>
              <a:t>    IMPACT</a:t>
            </a:r>
            <a:r>
              <a:rPr lang="en-US" sz="1300" dirty="0" smtClean="0"/>
              <a:t>: Memory issues even without quantization</a:t>
            </a:r>
          </a:p>
          <a:p>
            <a:pPr>
              <a:buNone/>
            </a:pPr>
            <a:r>
              <a:rPr lang="en-US" sz="1300" dirty="0" smtClean="0"/>
              <a:t>    ATTEMPTED</a:t>
            </a:r>
            <a:r>
              <a:rPr lang="en-US" sz="1300" dirty="0" smtClean="0"/>
              <a:t>: Smaller batches (failed)</a:t>
            </a:r>
          </a:p>
          <a:p>
            <a:pPr>
              <a:buNone/>
            </a:pPr>
            <a:r>
              <a:rPr lang="en-US" sz="1300" dirty="0" smtClean="0"/>
              <a:t>2. Conditional Complexity</a:t>
            </a:r>
          </a:p>
          <a:p>
            <a:pPr>
              <a:buNone/>
            </a:pPr>
            <a:r>
              <a:rPr lang="en-US" sz="1300" dirty="0" smtClean="0"/>
              <a:t>    PROBLEM</a:t>
            </a:r>
            <a:r>
              <a:rPr lang="en-US" sz="1300" dirty="0" smtClean="0"/>
              <a:t>: Multiple code paths hard to test</a:t>
            </a:r>
          </a:p>
          <a:p>
            <a:pPr>
              <a:buNone/>
            </a:pPr>
            <a:r>
              <a:rPr lang="en-US" sz="1300" dirty="0" smtClean="0"/>
              <a:t>    IMPACT</a:t>
            </a:r>
            <a:r>
              <a:rPr lang="en-US" sz="1300" dirty="0" smtClean="0"/>
              <a:t>: Inconsistent behavior across systems</a:t>
            </a:r>
          </a:p>
          <a:p>
            <a:pPr>
              <a:buNone/>
            </a:pPr>
            <a:r>
              <a:rPr lang="en-US" sz="1300" dirty="0" smtClean="0"/>
              <a:t>    EXAMPLE</a:t>
            </a:r>
            <a:r>
              <a:rPr lang="en-US" sz="1300" dirty="0" smtClean="0"/>
              <a:t>: Some users got quantization, others didn't</a:t>
            </a:r>
          </a:p>
          <a:p>
            <a:pPr>
              <a:buNone/>
            </a:pPr>
            <a:r>
              <a:rPr lang="en-US" sz="1300" dirty="0" smtClean="0"/>
              <a:t>3. Training Still Unstable</a:t>
            </a:r>
          </a:p>
          <a:p>
            <a:pPr>
              <a:buNone/>
            </a:pPr>
            <a:r>
              <a:rPr lang="en-US" sz="1300" dirty="0" smtClean="0"/>
              <a:t>    PROBLEM</a:t>
            </a:r>
            <a:r>
              <a:rPr lang="en-US" sz="1300" dirty="0" smtClean="0"/>
              <a:t>: "Target modules not found" for </a:t>
            </a:r>
            <a:r>
              <a:rPr lang="en-US" sz="1300" dirty="0" err="1" smtClean="0"/>
              <a:t>LoRA</a:t>
            </a:r>
            <a:endParaRPr lang="en-US" sz="1300" dirty="0" smtClean="0"/>
          </a:p>
          <a:p>
            <a:pPr>
              <a:buNone/>
            </a:pPr>
            <a:r>
              <a:rPr lang="en-US" sz="1300" dirty="0" smtClean="0"/>
              <a:t>    IMPACT</a:t>
            </a:r>
            <a:r>
              <a:rPr lang="en-US" sz="1300" dirty="0" smtClean="0"/>
              <a:t>: Fine-tuning impossible</a:t>
            </a:r>
          </a:p>
          <a:p>
            <a:pPr>
              <a:buNone/>
            </a:pPr>
            <a:r>
              <a:rPr lang="en-US" sz="1300" dirty="0" smtClean="0"/>
              <a:t>    ATTEMPTED</a:t>
            </a:r>
            <a:r>
              <a:rPr lang="en-US" sz="1300" dirty="0" smtClean="0"/>
              <a:t>: Different module names (failed)</a:t>
            </a:r>
          </a:p>
          <a:p>
            <a:pPr>
              <a:buNone/>
            </a:pPr>
            <a:r>
              <a:rPr lang="en-US" sz="1300" dirty="0" smtClean="0"/>
              <a:t>FAILURE </a:t>
            </a:r>
            <a:r>
              <a:rPr lang="en-US" sz="1300" dirty="0" smtClean="0"/>
              <a:t>REASON: Still too complex, model too </a:t>
            </a:r>
            <a:r>
              <a:rPr lang="en-US" sz="1300" dirty="0" smtClean="0"/>
              <a:t>large</a:t>
            </a:r>
          </a:p>
          <a:p>
            <a:pPr>
              <a:buNone/>
            </a:pPr>
            <a:endParaRPr lang="en-US" sz="1300" dirty="0" smtClean="0"/>
          </a:p>
          <a:p>
            <a:r>
              <a:rPr lang="en-US" sz="1400" dirty="0" smtClean="0">
                <a:solidFill>
                  <a:srgbClr val="CC3300"/>
                </a:solidFill>
                <a:cs typeface="Times New Roman" pitchFamily="18" charset="0"/>
              </a:rPr>
              <a:t>Phase </a:t>
            </a:r>
            <a:r>
              <a:rPr lang="en-US" sz="1400" dirty="0" smtClean="0">
                <a:solidFill>
                  <a:srgbClr val="CC3300"/>
                </a:solidFill>
                <a:cs typeface="Times New Roman" pitchFamily="18" charset="0"/>
              </a:rPr>
              <a:t>3 </a:t>
            </a:r>
            <a:r>
              <a:rPr lang="en-US" sz="1300" dirty="0" smtClean="0">
                <a:cs typeface="Times New Roman" pitchFamily="18" charset="0"/>
              </a:rPr>
              <a:t>:: Authentication Chaos</a:t>
            </a:r>
            <a:endParaRPr lang="en-US" sz="1300" dirty="0" smtClean="0"/>
          </a:p>
          <a:p>
            <a:r>
              <a:rPr lang="en-US" sz="1300" dirty="0" smtClean="0"/>
              <a:t>Changes Made:</a:t>
            </a:r>
          </a:p>
          <a:p>
            <a:pPr>
              <a:buNone/>
            </a:pPr>
            <a:r>
              <a:rPr lang="en-US" sz="1300" dirty="0" smtClean="0"/>
              <a:t>        # </a:t>
            </a:r>
            <a:r>
              <a:rPr lang="en-US" sz="1300" dirty="0" smtClean="0"/>
              <a:t>Added </a:t>
            </a:r>
            <a:r>
              <a:rPr lang="en-US" sz="1300" dirty="0" err="1" smtClean="0"/>
              <a:t>HuggingFace</a:t>
            </a:r>
            <a:r>
              <a:rPr lang="en-US" sz="1300" dirty="0" smtClean="0"/>
              <a:t> token support</a:t>
            </a:r>
          </a:p>
          <a:p>
            <a:pPr>
              <a:buNone/>
            </a:pPr>
            <a:r>
              <a:rPr lang="en-US" sz="1300" dirty="0" smtClean="0"/>
              <a:t>        def </a:t>
            </a:r>
            <a:r>
              <a:rPr lang="en-US" sz="1300" dirty="0" err="1" smtClean="0"/>
              <a:t>setup_model</a:t>
            </a:r>
            <a:r>
              <a:rPr lang="en-US" sz="1300" dirty="0" smtClean="0"/>
              <a:t>(self, </a:t>
            </a:r>
            <a:r>
              <a:rPr lang="en-US" sz="1300" dirty="0" err="1" smtClean="0"/>
              <a:t>hf_token</a:t>
            </a:r>
            <a:r>
              <a:rPr lang="en-US" sz="1300" dirty="0" smtClean="0"/>
              <a:t>: </a:t>
            </a:r>
            <a:r>
              <a:rPr lang="en-US" sz="1300" dirty="0" err="1" smtClean="0"/>
              <a:t>str</a:t>
            </a:r>
            <a:r>
              <a:rPr lang="en-US" sz="1300" dirty="0" smtClean="0"/>
              <a:t> = None):</a:t>
            </a:r>
          </a:p>
          <a:p>
            <a:pPr>
              <a:buNone/>
            </a:pPr>
            <a:r>
              <a:rPr lang="en-US" sz="1300" dirty="0" smtClean="0"/>
              <a:t>        # </a:t>
            </a:r>
            <a:r>
              <a:rPr lang="en-US" sz="1300" dirty="0" smtClean="0"/>
              <a:t>More UI options for users</a:t>
            </a:r>
          </a:p>
          <a:p>
            <a:pPr>
              <a:buNone/>
            </a:pPr>
            <a:r>
              <a:rPr lang="en-US" sz="1300" dirty="0" smtClean="0"/>
              <a:t>       # </a:t>
            </a:r>
            <a:r>
              <a:rPr lang="en-US" sz="1300" dirty="0" smtClean="0"/>
              <a:t>SIMPLE model loading - NO quantization</a:t>
            </a:r>
          </a:p>
          <a:p>
            <a:pPr>
              <a:buNone/>
            </a:pPr>
            <a:r>
              <a:rPr lang="en-US" sz="1300" dirty="0" smtClean="0"/>
              <a:t>        </a:t>
            </a:r>
            <a:r>
              <a:rPr lang="en-US" sz="1300" dirty="0" err="1" smtClean="0"/>
              <a:t>model_kwargs</a:t>
            </a:r>
            <a:r>
              <a:rPr lang="en-US" sz="1300" dirty="0" smtClean="0"/>
              <a:t> </a:t>
            </a:r>
            <a:r>
              <a:rPr lang="en-US" sz="1300" dirty="0" smtClean="0"/>
              <a:t>= {"</a:t>
            </a:r>
            <a:r>
              <a:rPr lang="en-US" sz="1300" dirty="0" err="1" smtClean="0"/>
              <a:t>trust_remote_code</a:t>
            </a:r>
            <a:r>
              <a:rPr lang="en-US" sz="1300" dirty="0" smtClean="0"/>
              <a:t>": True</a:t>
            </a:r>
            <a:r>
              <a:rPr lang="en-US" sz="1300" dirty="0" smtClean="0"/>
              <a:t>}</a:t>
            </a:r>
          </a:p>
          <a:p>
            <a:pPr>
              <a:buNone/>
            </a:pPr>
            <a:r>
              <a:rPr lang="en-US" sz="1300" dirty="0" smtClean="0"/>
              <a:t> </a:t>
            </a:r>
            <a:r>
              <a:rPr lang="en-US" sz="1300" dirty="0" smtClean="0"/>
              <a:t>      # </a:t>
            </a:r>
            <a:r>
              <a:rPr lang="en-US" sz="1300" dirty="0" smtClean="0"/>
              <a:t>Smaller, accessible </a:t>
            </a:r>
            <a:r>
              <a:rPr lang="en-US" sz="1300" dirty="0" smtClean="0"/>
              <a:t>model</a:t>
            </a:r>
          </a:p>
          <a:p>
            <a:pPr>
              <a:buNone/>
            </a:pPr>
            <a:r>
              <a:rPr lang="en-US" sz="1300" dirty="0" smtClean="0"/>
              <a:t> </a:t>
            </a:r>
            <a:r>
              <a:rPr lang="en-US" sz="1300" dirty="0" smtClean="0"/>
              <a:t>       </a:t>
            </a:r>
            <a:r>
              <a:rPr lang="en-US" sz="1300" dirty="0" err="1" smtClean="0"/>
              <a:t>base_model_name</a:t>
            </a:r>
            <a:r>
              <a:rPr lang="en-US" sz="1300" dirty="0" smtClean="0"/>
              <a:t>="</a:t>
            </a:r>
            <a:r>
              <a:rPr lang="en-US" sz="1300" dirty="0" err="1" smtClean="0"/>
              <a:t>microsoft</a:t>
            </a:r>
            <a:r>
              <a:rPr lang="en-US" sz="1300" dirty="0" smtClean="0"/>
              <a:t>/</a:t>
            </a:r>
            <a:r>
              <a:rPr lang="en-US" sz="1300" dirty="0" err="1" smtClean="0"/>
              <a:t>DialoGPT</a:t>
            </a:r>
            <a:r>
              <a:rPr lang="en-US" sz="1300" dirty="0" smtClean="0"/>
              <a:t>-medium“                                              </a:t>
            </a:r>
            <a:r>
              <a:rPr lang="en-US" sz="1300" i="1" dirty="0" smtClean="0">
                <a:solidFill>
                  <a:srgbClr val="CC3300"/>
                </a:solidFill>
                <a:cs typeface="Times New Roman" pitchFamily="18" charset="0"/>
              </a:rPr>
              <a:t>(</a:t>
            </a:r>
            <a:r>
              <a:rPr lang="en-US" sz="1300" i="1" dirty="0" smtClean="0">
                <a:solidFill>
                  <a:srgbClr val="CC3300"/>
                </a:solidFill>
                <a:cs typeface="Times New Roman" pitchFamily="18" charset="0"/>
              </a:rPr>
              <a:t>cont..)</a:t>
            </a:r>
            <a:r>
              <a:rPr lang="en-US" sz="1200" dirty="0" smtClean="0"/>
              <a:t>                                      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 smtClean="0"/>
              <a:t>Challenges in Implementing AI in Medical 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 smtClean="0"/>
              <a:t>Final Optimizations:</a:t>
            </a:r>
          </a:p>
          <a:p>
            <a:pPr>
              <a:buNone/>
            </a:pPr>
            <a:r>
              <a:rPr lang="en-US" sz="1200" dirty="0" smtClean="0"/>
              <a:t>     # </a:t>
            </a:r>
            <a:r>
              <a:rPr lang="en-US" sz="1200" dirty="0" smtClean="0"/>
              <a:t>Memory management</a:t>
            </a:r>
          </a:p>
          <a:p>
            <a:pPr>
              <a:buNone/>
            </a:pPr>
            <a:r>
              <a:rPr lang="en-US" sz="1200" dirty="0" smtClean="0"/>
              <a:t>      </a:t>
            </a:r>
            <a:r>
              <a:rPr lang="en-US" sz="1200" dirty="0" err="1" smtClean="0"/>
              <a:t>torch.cuda.empty_cache</a:t>
            </a:r>
            <a:r>
              <a:rPr lang="en-US" sz="1200" dirty="0" smtClean="0"/>
              <a:t>()</a:t>
            </a:r>
          </a:p>
          <a:p>
            <a:pPr>
              <a:buNone/>
            </a:pPr>
            <a:r>
              <a:rPr lang="en-US" sz="1200" dirty="0" smtClean="0"/>
              <a:t>     # </a:t>
            </a:r>
            <a:r>
              <a:rPr lang="en-US" sz="1200" dirty="0" smtClean="0"/>
              <a:t>Proper resource cleanup</a:t>
            </a:r>
          </a:p>
          <a:p>
            <a:pPr>
              <a:buNone/>
            </a:pPr>
            <a:r>
              <a:rPr lang="en-US" sz="1200" dirty="0" smtClean="0"/>
              <a:t>      </a:t>
            </a:r>
            <a:r>
              <a:rPr lang="en-US" sz="1200" dirty="0" err="1" smtClean="0"/>
              <a:t>self.tokenizer</a:t>
            </a:r>
            <a:r>
              <a:rPr lang="en-US" sz="1200" dirty="0" smtClean="0"/>
              <a:t> </a:t>
            </a:r>
            <a:r>
              <a:rPr lang="en-US" sz="1200" dirty="0" smtClean="0"/>
              <a:t>= None  # On failure</a:t>
            </a:r>
          </a:p>
          <a:p>
            <a:pPr>
              <a:buNone/>
            </a:pPr>
            <a:r>
              <a:rPr lang="en-US" sz="1200" dirty="0" smtClean="0"/>
              <a:t>     # </a:t>
            </a:r>
            <a:r>
              <a:rPr lang="en-US" sz="1200" dirty="0" smtClean="0"/>
              <a:t>Explicit status returns</a:t>
            </a:r>
          </a:p>
          <a:p>
            <a:pPr>
              <a:buFont typeface="Wingdings" pitchFamily="2" charset="2"/>
              <a:buChar char="Ø"/>
            </a:pPr>
            <a:r>
              <a:rPr lang="en-US" sz="1200" dirty="0" smtClean="0"/>
              <a:t>PRODUCTION </a:t>
            </a:r>
            <a:r>
              <a:rPr lang="en-US" sz="1200" dirty="0" smtClean="0"/>
              <a:t>FEATURES:</a:t>
            </a:r>
          </a:p>
          <a:p>
            <a:pPr>
              <a:buNone/>
            </a:pPr>
            <a:r>
              <a:rPr lang="en-US" sz="1200" dirty="0" smtClean="0"/>
              <a:t>1. Memory Optimization</a:t>
            </a:r>
          </a:p>
          <a:p>
            <a:pPr>
              <a:buNone/>
            </a:pPr>
            <a:r>
              <a:rPr lang="en-US" sz="1200" dirty="0" smtClean="0"/>
              <a:t>    FEATURE</a:t>
            </a:r>
            <a:r>
              <a:rPr lang="en-US" sz="1200" dirty="0" smtClean="0"/>
              <a:t>: Automatic memory cleanup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BENEFIT</a:t>
            </a:r>
            <a:r>
              <a:rPr lang="en-US" sz="1200" dirty="0" smtClean="0"/>
              <a:t>: Prevents memory leaks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IMPACT</a:t>
            </a:r>
            <a:r>
              <a:rPr lang="en-US" sz="1200" dirty="0" smtClean="0"/>
              <a:t>: Better long-term stability</a:t>
            </a:r>
          </a:p>
          <a:p>
            <a:pPr>
              <a:buNone/>
            </a:pPr>
            <a:r>
              <a:rPr lang="en-US" sz="1200" dirty="0" smtClean="0"/>
              <a:t>2. Professional Error Handling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FEATURE</a:t>
            </a:r>
            <a:r>
              <a:rPr lang="en-US" sz="1200" dirty="0" smtClean="0"/>
              <a:t>: Proper resource cleanup on failures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BENEFIT</a:t>
            </a:r>
            <a:r>
              <a:rPr lang="en-US" sz="1200" dirty="0" smtClean="0"/>
              <a:t>: No corrupted states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IMPACT</a:t>
            </a:r>
            <a:r>
              <a:rPr lang="en-US" sz="1200" dirty="0" smtClean="0"/>
              <a:t>: More reliable </a:t>
            </a:r>
            <a:r>
              <a:rPr lang="en-US" sz="1200" dirty="0" smtClean="0"/>
              <a:t>recovery</a:t>
            </a:r>
          </a:p>
          <a:p>
            <a:pPr>
              <a:buNone/>
            </a:pPr>
            <a:r>
              <a:rPr lang="en-US" sz="1200" dirty="0" smtClean="0"/>
              <a:t>3. Clear Communication</a:t>
            </a:r>
          </a:p>
          <a:p>
            <a:pPr>
              <a:buNone/>
            </a:pPr>
            <a:r>
              <a:rPr lang="en-US" sz="1200" dirty="0" smtClean="0"/>
              <a:t>    FEATURE</a:t>
            </a:r>
            <a:r>
              <a:rPr lang="en-US" sz="1200" dirty="0" smtClean="0"/>
              <a:t>: Explicit success/failure returns</a:t>
            </a:r>
          </a:p>
          <a:p>
            <a:pPr>
              <a:buNone/>
            </a:pPr>
            <a:r>
              <a:rPr lang="en-US" sz="1200" dirty="0" smtClean="0"/>
              <a:t>    BENEFIT</a:t>
            </a:r>
            <a:r>
              <a:rPr lang="en-US" sz="1200" dirty="0" smtClean="0"/>
              <a:t>: Better user feedback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 smtClean="0"/>
              <a:t>   IMPACT</a:t>
            </a:r>
            <a:r>
              <a:rPr lang="en-US" sz="1200" dirty="0" smtClean="0"/>
              <a:t>: Users know exactly what's happening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 smtClean="0"/>
              <a:t>Outputs &amp; Key Points of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770856"/>
          </a:xfrm>
        </p:spPr>
        <p:txBody>
          <a:bodyPr>
            <a:normAutofit lnSpcReduction="10000"/>
          </a:bodyPr>
          <a:lstStyle/>
          <a:p>
            <a:r>
              <a:rPr lang="en-US" sz="1200" dirty="0" smtClean="0"/>
              <a:t># Final </a:t>
            </a:r>
            <a:r>
              <a:rPr lang="en-US" sz="1200" dirty="0" smtClean="0"/>
              <a:t>PROJECT </a:t>
            </a:r>
            <a:r>
              <a:rPr lang="en-US" sz="1200" dirty="0" smtClean="0"/>
              <a:t>:</a:t>
            </a:r>
            <a:endParaRPr lang="en-US" sz="1200" dirty="0" smtClean="0"/>
          </a:p>
          <a:p>
            <a:r>
              <a:rPr lang="en-US" sz="1200" dirty="0" err="1" smtClean="0"/>
              <a:t>model_kwargs</a:t>
            </a:r>
            <a:r>
              <a:rPr lang="en-US" sz="1200" dirty="0" smtClean="0"/>
              <a:t> = {"</a:t>
            </a:r>
            <a:r>
              <a:rPr lang="en-US" sz="1200" dirty="0" err="1" smtClean="0"/>
              <a:t>trust_remote_code</a:t>
            </a:r>
            <a:r>
              <a:rPr lang="en-US" sz="1200" dirty="0" smtClean="0"/>
              <a:t>": True</a:t>
            </a:r>
            <a:r>
              <a:rPr lang="en-US" sz="1200" dirty="0" smtClean="0"/>
              <a:t>}</a:t>
            </a:r>
            <a:endParaRPr lang="en-US" sz="1200" dirty="0" smtClean="0"/>
          </a:p>
          <a:p>
            <a:r>
              <a:rPr lang="en-US" sz="1200" dirty="0" smtClean="0"/>
              <a:t># Simple RAG + Smart </a:t>
            </a:r>
            <a:r>
              <a:rPr lang="en-US" sz="1200" dirty="0" smtClean="0"/>
              <a:t>prompts</a:t>
            </a:r>
            <a:endParaRPr lang="en-US" sz="1200" dirty="0" smtClean="0"/>
          </a:p>
          <a:p>
            <a:r>
              <a:rPr lang="en-US" sz="1200" dirty="0" smtClean="0"/>
              <a:t># Automatic memory </a:t>
            </a:r>
            <a:r>
              <a:rPr lang="en-US" sz="1200" dirty="0" smtClean="0"/>
              <a:t>management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DISCOVERED</a:t>
            </a:r>
            <a:r>
              <a:rPr lang="en-US" sz="1200" dirty="0" smtClean="0"/>
              <a:t>:</a:t>
            </a:r>
          </a:p>
          <a:p>
            <a:r>
              <a:rPr lang="en-US" sz="1200" dirty="0" smtClean="0"/>
              <a:t>Complexity ≠ Quality</a:t>
            </a:r>
          </a:p>
          <a:p>
            <a:r>
              <a:rPr lang="en-US" sz="1200" dirty="0" smtClean="0"/>
              <a:t>Features ≠ Value  </a:t>
            </a:r>
          </a:p>
          <a:p>
            <a:r>
              <a:rPr lang="en-US" sz="1200" dirty="0" smtClean="0"/>
              <a:t>Sophistication ≠ </a:t>
            </a:r>
            <a:r>
              <a:rPr lang="en-US" sz="1200" dirty="0" smtClean="0"/>
              <a:t>Reliability</a:t>
            </a:r>
          </a:p>
          <a:p>
            <a:endParaRPr lang="en-US" sz="1200" dirty="0" smtClean="0"/>
          </a:p>
          <a:p>
            <a:r>
              <a:rPr lang="en-US" sz="1400" dirty="0" smtClean="0"/>
              <a:t>Data Availability and Quality: </a:t>
            </a:r>
            <a:r>
              <a:rPr lang="en-US" sz="1200" dirty="0" smtClean="0"/>
              <a:t>having enough and reliable data for AI. </a:t>
            </a:r>
          </a:p>
          <a:p>
            <a:endParaRPr lang="en-US" sz="1200" dirty="0" smtClean="0"/>
          </a:p>
          <a:p>
            <a:r>
              <a:rPr lang="en-US" sz="1400" dirty="0" smtClean="0"/>
              <a:t>Interpretability and Trust : </a:t>
            </a:r>
            <a:r>
              <a:rPr lang="en-US" sz="1200" dirty="0" smtClean="0"/>
              <a:t>understanding how AI makes decisions and trusting them. </a:t>
            </a:r>
          </a:p>
          <a:p>
            <a:endParaRPr lang="en-US" sz="1200" dirty="0" smtClean="0"/>
          </a:p>
          <a:p>
            <a:r>
              <a:rPr lang="en-US" sz="1400" dirty="0" smtClean="0"/>
              <a:t>Regulatory Approval and Ethical </a:t>
            </a:r>
            <a:r>
              <a:rPr lang="en-US" sz="1400" dirty="0" smtClean="0"/>
              <a:t>Concerns : </a:t>
            </a:r>
            <a:r>
              <a:rPr lang="en-US" sz="1200" dirty="0" smtClean="0"/>
              <a:t>it's </a:t>
            </a:r>
            <a:r>
              <a:rPr lang="en-US" sz="1200" dirty="0" smtClean="0"/>
              <a:t>important to follow the laws and guidelines when using AI in medicine 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400" dirty="0" smtClean="0"/>
              <a:t>Integration into Clinical Workflow : </a:t>
            </a:r>
            <a:r>
              <a:rPr lang="en-US" sz="1200" dirty="0" smtClean="0"/>
              <a:t>Incorporating AI tools into existing medical workflows can be complex and requires careful consideration of technical and practical issues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r>
              <a:rPr lang="en-US" sz="1400" dirty="0" smtClean="0"/>
              <a:t>Ethical Considerations : </a:t>
            </a:r>
            <a:r>
              <a:rPr lang="en-US" sz="1200" dirty="0" smtClean="0"/>
              <a:t>Ensuring transparency, accountability, and patient trust is crucial in the development and deployment of AI in healthcare.</a:t>
            </a:r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dirty="0" smtClean="0"/>
              <a:t>Benefits of AI in Medical Diagnosis</a:t>
            </a:r>
            <a:endParaRPr lang="en-US" sz="2800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Improved Accuracy and Disease </a:t>
            </a:r>
            <a:r>
              <a:rPr lang="en-US" sz="1200" dirty="0" smtClean="0"/>
              <a:t>Detection</a:t>
            </a:r>
          </a:p>
          <a:p>
            <a:endParaRPr lang="en-US" sz="1200" dirty="0" smtClean="0"/>
          </a:p>
          <a:p>
            <a:r>
              <a:rPr lang="en-US" sz="1200" dirty="0" smtClean="0"/>
              <a:t>Faster Diagnostic </a:t>
            </a:r>
            <a:r>
              <a:rPr lang="en-US" sz="1200" dirty="0" smtClean="0"/>
              <a:t>Processes</a:t>
            </a:r>
          </a:p>
          <a:p>
            <a:endParaRPr lang="en-US" sz="1200" dirty="0" smtClean="0"/>
          </a:p>
          <a:p>
            <a:r>
              <a:rPr lang="en-US" sz="1200" dirty="0" smtClean="0"/>
              <a:t>Increased Efficiency and Time </a:t>
            </a:r>
            <a:r>
              <a:rPr lang="en-US" sz="1200" dirty="0" smtClean="0"/>
              <a:t>Savings</a:t>
            </a:r>
          </a:p>
          <a:p>
            <a:endParaRPr lang="en-US" sz="1100" dirty="0" smtClean="0"/>
          </a:p>
          <a:p>
            <a:r>
              <a:rPr lang="en-US" sz="1400" dirty="0" smtClean="0"/>
              <a:t>Success Rate</a:t>
            </a:r>
            <a:r>
              <a:rPr lang="en-US" sz="1100" dirty="0" smtClean="0"/>
              <a:t>: </a:t>
            </a:r>
            <a:r>
              <a:rPr lang="en-US" sz="1200" dirty="0" smtClean="0"/>
              <a:t>98</a:t>
            </a:r>
            <a:r>
              <a:rPr lang="en-US" sz="1200" dirty="0" smtClean="0"/>
              <a:t>%+</a:t>
            </a:r>
          </a:p>
          <a:p>
            <a:endParaRPr lang="en-US" sz="1100" dirty="0" smtClean="0"/>
          </a:p>
          <a:p>
            <a:r>
              <a:rPr lang="en-US" sz="1400" dirty="0" smtClean="0"/>
              <a:t>Setup Time</a:t>
            </a:r>
            <a:r>
              <a:rPr lang="en-US" sz="1100" dirty="0" smtClean="0"/>
              <a:t>: </a:t>
            </a:r>
            <a:r>
              <a:rPr lang="en-US" sz="1200" dirty="0" smtClean="0"/>
              <a:t>1-2 </a:t>
            </a:r>
            <a:r>
              <a:rPr lang="en-US" sz="1200" dirty="0" smtClean="0"/>
              <a:t>minutes</a:t>
            </a:r>
          </a:p>
          <a:p>
            <a:endParaRPr lang="en-US" sz="1100" dirty="0" smtClean="0"/>
          </a:p>
          <a:p>
            <a:r>
              <a:rPr lang="en-US" sz="1400" dirty="0" smtClean="0"/>
              <a:t>Memory</a:t>
            </a:r>
            <a:r>
              <a:rPr lang="en-US" sz="1100" dirty="0" smtClean="0"/>
              <a:t>: </a:t>
            </a:r>
            <a:r>
              <a:rPr lang="en-US" sz="1200" dirty="0" smtClean="0"/>
              <a:t>2-3GB </a:t>
            </a:r>
            <a:r>
              <a:rPr lang="en-US" sz="1200" dirty="0" smtClean="0"/>
              <a:t>required</a:t>
            </a:r>
          </a:p>
          <a:p>
            <a:endParaRPr lang="en-US" sz="1100" dirty="0" smtClean="0"/>
          </a:p>
          <a:p>
            <a:r>
              <a:rPr lang="en-US" sz="1400" dirty="0" smtClean="0"/>
              <a:t>User Experience</a:t>
            </a:r>
            <a:r>
              <a:rPr lang="en-US" sz="1100" dirty="0" smtClean="0"/>
              <a:t>: </a:t>
            </a:r>
            <a:r>
              <a:rPr lang="en-US" sz="1200" dirty="0" smtClean="0"/>
              <a:t>Smooth</a:t>
            </a:r>
          </a:p>
          <a:p>
            <a:endParaRPr lang="en-US" sz="1200" dirty="0" smtClean="0"/>
          </a:p>
          <a:p>
            <a:r>
              <a:rPr lang="en-US" sz="1200" dirty="0" smtClean="0"/>
              <a:t>Simple Model (</a:t>
            </a:r>
            <a:r>
              <a:rPr lang="en-US" sz="1200" dirty="0" err="1" smtClean="0"/>
              <a:t>DialoGPT</a:t>
            </a:r>
            <a:r>
              <a:rPr lang="en-US" sz="1200" dirty="0" smtClean="0"/>
              <a:t>) + Smart RAG + Good Prompts + Safety Features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en-US" sz="3200" b="0" dirty="0" smtClean="0"/>
              <a:t>Conclusion</a:t>
            </a:r>
            <a:r>
              <a:rPr lang="en-US" dirty="0" smtClean="0"/>
              <a:t> </a:t>
            </a:r>
            <a:r>
              <a:rPr lang="en-US" sz="3200" b="0" dirty="0" smtClean="0"/>
              <a:t>and Future Outlook</a:t>
            </a:r>
            <a:endParaRPr lang="en-US" sz="3200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266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Journey:</a:t>
            </a:r>
          </a:p>
          <a:p>
            <a:pPr>
              <a:buNone/>
            </a:pPr>
            <a:r>
              <a:rPr lang="en-US" sz="2000" dirty="0" smtClean="0"/>
              <a:t>  </a:t>
            </a:r>
            <a:r>
              <a:rPr lang="en-US" sz="2000" dirty="0" smtClean="0">
                <a:solidFill>
                  <a:srgbClr val="CC3300"/>
                </a:solidFill>
              </a:rPr>
              <a:t>From</a:t>
            </a:r>
            <a:r>
              <a:rPr lang="en-US" sz="2000" dirty="0" smtClean="0"/>
              <a:t>: Complex, failing, frustrating system</a:t>
            </a:r>
          </a:p>
          <a:p>
            <a:pPr>
              <a:buNone/>
            </a:pPr>
            <a:r>
              <a:rPr lang="en-US" sz="2000" dirty="0" smtClean="0"/>
              <a:t>  </a:t>
            </a:r>
            <a:r>
              <a:rPr lang="en-US" sz="2000" dirty="0" smtClean="0">
                <a:solidFill>
                  <a:srgbClr val="00B050"/>
                </a:solidFill>
              </a:rPr>
              <a:t>To</a:t>
            </a:r>
            <a:r>
              <a:rPr lang="en-US" sz="2000" dirty="0" smtClean="0"/>
              <a:t>: Simple, reliable, helpful medical </a:t>
            </a:r>
            <a:r>
              <a:rPr lang="en-US" sz="2000" dirty="0" smtClean="0"/>
              <a:t>assistant AI </a:t>
            </a:r>
            <a:r>
              <a:rPr lang="en-US" sz="2000" dirty="0" smtClean="0"/>
              <a:t>has the potential to significantly enhance medical </a:t>
            </a:r>
            <a:r>
              <a:rPr lang="en-US" sz="2000" dirty="0" smtClean="0"/>
              <a:t>diagnosis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000" dirty="0" smtClean="0"/>
              <a:t>Addressing challenges and ethical considerations is </a:t>
            </a:r>
            <a:r>
              <a:rPr lang="en-US" sz="2000" dirty="0" smtClean="0"/>
              <a:t>crucial</a:t>
            </a:r>
          </a:p>
          <a:p>
            <a:endParaRPr lang="en-US" sz="2000" dirty="0" smtClean="0"/>
          </a:p>
          <a:p>
            <a:r>
              <a:rPr lang="en-US" sz="2000" dirty="0" smtClean="0"/>
              <a:t>The future of AI in healthcare is promising, with potential for personalized and telemedicine applications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16239</TotalTime>
  <Words>706</Words>
  <Application>Microsoft Office PowerPoint</Application>
  <PresentationFormat>On-screen Show (4:3)</PresentationFormat>
  <Paragraphs>115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Aspect</vt:lpstr>
      <vt:lpstr>AI in Medical Diagnosis: Enhancing Accuracy and Efficiency</vt:lpstr>
      <vt:lpstr>Challenges in Implementing AI in Medical Diagnosis</vt:lpstr>
      <vt:lpstr>Challenges in Implementing AI in Medical Diagnosis</vt:lpstr>
      <vt:lpstr>Challenges in Implementing AI in Medical Diagnosis</vt:lpstr>
      <vt:lpstr>Outputs &amp; Key Points of Challenges</vt:lpstr>
      <vt:lpstr>Benefits of AI in Medical Diagnosis</vt:lpstr>
      <vt:lpstr>Conclusion and Future Outlook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Medical Diagnosis: Enhancing Accuracy and Efficiency</dc:title>
  <dc:creator>User</dc:creator>
  <cp:lastModifiedBy>User</cp:lastModifiedBy>
  <cp:revision>8</cp:revision>
  <dcterms:created xsi:type="dcterms:W3CDTF">2025-11-20T05:58:06Z</dcterms:created>
  <dcterms:modified xsi:type="dcterms:W3CDTF">2025-12-01T12:37:38Z</dcterms:modified>
</cp:coreProperties>
</file>